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99BD22-73C6-47C5-A460-9A5681E1A991}" v="1" dt="2026-04-01T15:08:45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athcote (US), Daniel" userId="721d68fc-82d4-4300-897b-0ccf9c29106c" providerId="ADAL" clId="{CF03B154-E1CB-42F4-82BC-355E84CCA463}"/>
    <pc:docChg chg="undo custSel modSld">
      <pc:chgData name="Heathcote (US), Daniel" userId="721d68fc-82d4-4300-897b-0ccf9c29106c" providerId="ADAL" clId="{CF03B154-E1CB-42F4-82BC-355E84CCA463}" dt="2026-04-01T15:12:54.110" v="597" actId="113"/>
      <pc:docMkLst>
        <pc:docMk/>
      </pc:docMkLst>
      <pc:sldChg chg="modSp mod">
        <pc:chgData name="Heathcote (US), Daniel" userId="721d68fc-82d4-4300-897b-0ccf9c29106c" providerId="ADAL" clId="{CF03B154-E1CB-42F4-82BC-355E84CCA463}" dt="2026-04-01T14:31:53.561" v="224" actId="20577"/>
        <pc:sldMkLst>
          <pc:docMk/>
          <pc:sldMk cId="391183430" sldId="256"/>
        </pc:sldMkLst>
        <pc:spChg chg="mod">
          <ac:chgData name="Heathcote (US), Daniel" userId="721d68fc-82d4-4300-897b-0ccf9c29106c" providerId="ADAL" clId="{CF03B154-E1CB-42F4-82BC-355E84CCA463}" dt="2026-04-01T14:31:53.561" v="224" actId="20577"/>
          <ac:spMkLst>
            <pc:docMk/>
            <pc:sldMk cId="391183430" sldId="256"/>
            <ac:spMk id="3" creationId="{2CA5E5FE-05C5-98BE-4DAC-6D0C03E7E8FA}"/>
          </ac:spMkLst>
        </pc:spChg>
      </pc:sldChg>
      <pc:sldChg chg="addSp delSp modSp mod">
        <pc:chgData name="Heathcote (US), Daniel" userId="721d68fc-82d4-4300-897b-0ccf9c29106c" providerId="ADAL" clId="{CF03B154-E1CB-42F4-82BC-355E84CCA463}" dt="2026-04-01T15:03:36.154" v="238" actId="14100"/>
        <pc:sldMkLst>
          <pc:docMk/>
          <pc:sldMk cId="1427887188" sldId="260"/>
        </pc:sldMkLst>
        <pc:spChg chg="del">
          <ac:chgData name="Heathcote (US), Daniel" userId="721d68fc-82d4-4300-897b-0ccf9c29106c" providerId="ADAL" clId="{CF03B154-E1CB-42F4-82BC-355E84CCA463}" dt="2026-04-01T15:03:23.418" v="232" actId="478"/>
          <ac:spMkLst>
            <pc:docMk/>
            <pc:sldMk cId="1427887188" sldId="260"/>
            <ac:spMk id="4" creationId="{727BCEF7-2084-0830-780B-2F340094E9D5}"/>
          </ac:spMkLst>
        </pc:spChg>
        <pc:spChg chg="mod">
          <ac:chgData name="Heathcote (US), Daniel" userId="721d68fc-82d4-4300-897b-0ccf9c29106c" providerId="ADAL" clId="{CF03B154-E1CB-42F4-82BC-355E84CCA463}" dt="2026-04-01T15:03:25.773" v="233" actId="1076"/>
          <ac:spMkLst>
            <pc:docMk/>
            <pc:sldMk cId="1427887188" sldId="260"/>
            <ac:spMk id="7" creationId="{847F2373-D8C6-F32C-04C5-7E0DFD360246}"/>
          </ac:spMkLst>
        </pc:spChg>
        <pc:spChg chg="mod">
          <ac:chgData name="Heathcote (US), Daniel" userId="721d68fc-82d4-4300-897b-0ccf9c29106c" providerId="ADAL" clId="{CF03B154-E1CB-42F4-82BC-355E84CCA463}" dt="2026-04-01T15:03:36.154" v="238" actId="14100"/>
          <ac:spMkLst>
            <pc:docMk/>
            <pc:sldMk cId="1427887188" sldId="260"/>
            <ac:spMk id="8" creationId="{6E5BC55C-F043-FA1D-3278-38EE4F791CD2}"/>
          </ac:spMkLst>
        </pc:spChg>
        <pc:picChg chg="del">
          <ac:chgData name="Heathcote (US), Daniel" userId="721d68fc-82d4-4300-897b-0ccf9c29106c" providerId="ADAL" clId="{CF03B154-E1CB-42F4-82BC-355E84CCA463}" dt="2026-04-01T15:03:05.557" v="225" actId="478"/>
          <ac:picMkLst>
            <pc:docMk/>
            <pc:sldMk cId="1427887188" sldId="260"/>
            <ac:picMk id="6" creationId="{4BD7E77D-0D1D-3F8B-A4CB-22EAD3C7C5E9}"/>
          </ac:picMkLst>
        </pc:picChg>
        <pc:picChg chg="add del mod ord">
          <ac:chgData name="Heathcote (US), Daniel" userId="721d68fc-82d4-4300-897b-0ccf9c29106c" providerId="ADAL" clId="{CF03B154-E1CB-42F4-82BC-355E84CCA463}" dt="2026-04-01T15:03:27.993" v="235" actId="1076"/>
          <ac:picMkLst>
            <pc:docMk/>
            <pc:sldMk cId="1427887188" sldId="260"/>
            <ac:picMk id="9" creationId="{94729B5B-5D50-5DDC-AF1F-4979325ECBE2}"/>
          </ac:picMkLst>
        </pc:picChg>
      </pc:sldChg>
      <pc:sldChg chg="addSp delSp modSp mod">
        <pc:chgData name="Heathcote (US), Daniel" userId="721d68fc-82d4-4300-897b-0ccf9c29106c" providerId="ADAL" clId="{CF03B154-E1CB-42F4-82BC-355E84CCA463}" dt="2026-04-01T15:05:25.778" v="253" actId="14100"/>
        <pc:sldMkLst>
          <pc:docMk/>
          <pc:sldMk cId="3891705265" sldId="262"/>
        </pc:sldMkLst>
        <pc:spChg chg="mod">
          <ac:chgData name="Heathcote (US), Daniel" userId="721d68fc-82d4-4300-897b-0ccf9c29106c" providerId="ADAL" clId="{CF03B154-E1CB-42F4-82BC-355E84CCA463}" dt="2026-04-01T15:05:03.809" v="245" actId="14100"/>
          <ac:spMkLst>
            <pc:docMk/>
            <pc:sldMk cId="3891705265" sldId="262"/>
            <ac:spMk id="3" creationId="{A8CC5DE0-6AFC-9C94-13B6-FCB01CF9B00C}"/>
          </ac:spMkLst>
        </pc:spChg>
        <pc:spChg chg="mod">
          <ac:chgData name="Heathcote (US), Daniel" userId="721d68fc-82d4-4300-897b-0ccf9c29106c" providerId="ADAL" clId="{CF03B154-E1CB-42F4-82BC-355E84CCA463}" dt="2026-04-01T15:05:25.778" v="253" actId="14100"/>
          <ac:spMkLst>
            <pc:docMk/>
            <pc:sldMk cId="3891705265" sldId="262"/>
            <ac:spMk id="7" creationId="{FC0E4800-667F-AF81-2D7A-61DE55153B48}"/>
          </ac:spMkLst>
        </pc:spChg>
        <pc:spChg chg="mod">
          <ac:chgData name="Heathcote (US), Daniel" userId="721d68fc-82d4-4300-897b-0ccf9c29106c" providerId="ADAL" clId="{CF03B154-E1CB-42F4-82BC-355E84CCA463}" dt="2026-04-01T15:05:17.854" v="252" actId="1036"/>
          <ac:spMkLst>
            <pc:docMk/>
            <pc:sldMk cId="3891705265" sldId="262"/>
            <ac:spMk id="9" creationId="{CC8A6EA8-6ED9-D257-A7CB-D0EF0F9618F3}"/>
          </ac:spMkLst>
        </pc:spChg>
        <pc:picChg chg="add mod ord">
          <ac:chgData name="Heathcote (US), Daniel" userId="721d68fc-82d4-4300-897b-0ccf9c29106c" providerId="ADAL" clId="{CF03B154-E1CB-42F4-82BC-355E84CCA463}" dt="2026-04-01T15:05:11.038" v="248" actId="1076"/>
          <ac:picMkLst>
            <pc:docMk/>
            <pc:sldMk cId="3891705265" sldId="262"/>
            <ac:picMk id="5" creationId="{06C9293B-5F19-F9CD-5682-6E6827679425}"/>
          </ac:picMkLst>
        </pc:picChg>
        <pc:picChg chg="del">
          <ac:chgData name="Heathcote (US), Daniel" userId="721d68fc-82d4-4300-897b-0ccf9c29106c" providerId="ADAL" clId="{CF03B154-E1CB-42F4-82BC-355E84CCA463}" dt="2026-04-01T15:04:02.057" v="239" actId="478"/>
          <ac:picMkLst>
            <pc:docMk/>
            <pc:sldMk cId="3891705265" sldId="262"/>
            <ac:picMk id="6" creationId="{337A18CE-B967-BA86-5B69-35C67E5381E7}"/>
          </ac:picMkLst>
        </pc:picChg>
      </pc:sldChg>
      <pc:sldChg chg="addSp delSp modSp mod">
        <pc:chgData name="Heathcote (US), Daniel" userId="721d68fc-82d4-4300-897b-0ccf9c29106c" providerId="ADAL" clId="{CF03B154-E1CB-42F4-82BC-355E84CCA463}" dt="2026-04-01T15:09:20.957" v="377" actId="27636"/>
        <pc:sldMkLst>
          <pc:docMk/>
          <pc:sldMk cId="3646831821" sldId="266"/>
        </pc:sldMkLst>
        <pc:spChg chg="mod">
          <ac:chgData name="Heathcote (US), Daniel" userId="721d68fc-82d4-4300-897b-0ccf9c29106c" providerId="ADAL" clId="{CF03B154-E1CB-42F4-82BC-355E84CCA463}" dt="2026-04-01T15:09:20.957" v="377" actId="27636"/>
          <ac:spMkLst>
            <pc:docMk/>
            <pc:sldMk cId="3646831821" sldId="266"/>
            <ac:spMk id="4" creationId="{B4555FDD-FD8E-12B4-352C-E45700994790}"/>
          </ac:spMkLst>
        </pc:spChg>
        <pc:spChg chg="add mod">
          <ac:chgData name="Heathcote (US), Daniel" userId="721d68fc-82d4-4300-897b-0ccf9c29106c" providerId="ADAL" clId="{CF03B154-E1CB-42F4-82BC-355E84CCA463}" dt="2026-04-01T15:08:54.614" v="301" actId="14100"/>
          <ac:spMkLst>
            <pc:docMk/>
            <pc:sldMk cId="3646831821" sldId="266"/>
            <ac:spMk id="7" creationId="{845A0BD9-4351-E7E8-CC49-5DEF88E1848B}"/>
          </ac:spMkLst>
        </pc:spChg>
        <pc:spChg chg="mod">
          <ac:chgData name="Heathcote (US), Daniel" userId="721d68fc-82d4-4300-897b-0ccf9c29106c" providerId="ADAL" clId="{CF03B154-E1CB-42F4-82BC-355E84CCA463}" dt="2026-04-01T15:08:43.317" v="294" actId="1076"/>
          <ac:spMkLst>
            <pc:docMk/>
            <pc:sldMk cId="3646831821" sldId="266"/>
            <ac:spMk id="9" creationId="{97F78627-8980-11FD-574E-E42723190F8D}"/>
          </ac:spMkLst>
        </pc:spChg>
        <pc:picChg chg="add mod ord">
          <ac:chgData name="Heathcote (US), Daniel" userId="721d68fc-82d4-4300-897b-0ccf9c29106c" providerId="ADAL" clId="{CF03B154-E1CB-42F4-82BC-355E84CCA463}" dt="2026-04-01T15:08:37.002" v="293" actId="167"/>
          <ac:picMkLst>
            <pc:docMk/>
            <pc:sldMk cId="3646831821" sldId="266"/>
            <ac:picMk id="5" creationId="{5E84B528-86CB-5BDB-4B63-AC64966B1BD4}"/>
          </ac:picMkLst>
        </pc:picChg>
        <pc:picChg chg="del">
          <ac:chgData name="Heathcote (US), Daniel" userId="721d68fc-82d4-4300-897b-0ccf9c29106c" providerId="ADAL" clId="{CF03B154-E1CB-42F4-82BC-355E84CCA463}" dt="2026-04-01T15:08:04.220" v="289" actId="478"/>
          <ac:picMkLst>
            <pc:docMk/>
            <pc:sldMk cId="3646831821" sldId="266"/>
            <ac:picMk id="8" creationId="{34C4E656-1FE4-838D-EB91-FEF3979B7C6D}"/>
          </ac:picMkLst>
        </pc:picChg>
      </pc:sldChg>
      <pc:sldChg chg="modSp mod">
        <pc:chgData name="Heathcote (US), Daniel" userId="721d68fc-82d4-4300-897b-0ccf9c29106c" providerId="ADAL" clId="{CF03B154-E1CB-42F4-82BC-355E84CCA463}" dt="2026-04-01T15:12:54.110" v="597" actId="113"/>
        <pc:sldMkLst>
          <pc:docMk/>
          <pc:sldMk cId="4145086693" sldId="271"/>
        </pc:sldMkLst>
        <pc:spChg chg="mod">
          <ac:chgData name="Heathcote (US), Daniel" userId="721d68fc-82d4-4300-897b-0ccf9c29106c" providerId="ADAL" clId="{CF03B154-E1CB-42F4-82BC-355E84CCA463}" dt="2026-04-01T15:12:54.110" v="597" actId="113"/>
          <ac:spMkLst>
            <pc:docMk/>
            <pc:sldMk cId="4145086693" sldId="271"/>
            <ac:spMk id="11" creationId="{DE802044-09E0-F4E7-BD43-D8FEE5216CD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4F71-2864-9A85-067B-A14C03E14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31531-508B-FF37-D88E-7D391A59F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35A38-8E48-BE6A-0662-460555A0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87792-FA05-B0F4-41D8-2C5BFDE8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4A24-53F0-DD1D-71C0-2C270F21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5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7A24-5F7A-BC8F-2AF2-D1F706D8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64802-1411-6618-EFFF-5A853945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9A0BC-BD6B-DFCE-ED64-8A92F3BF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96B40-5549-2970-D0B6-FB73B094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CC2F-6525-B21F-A325-E6BE7990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3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088D-EAC3-7FEE-00BA-4B1413DF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1DDDE-2F2D-571A-2030-7F8B25968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482C5-B1BF-5704-7667-AB80283F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4C713-E561-1DCF-0B5C-22B2722EE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B17C7-E418-7B5F-FB4F-71F94C85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7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0191-22C5-FCC7-775C-D9BBFA03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0D4B-EBEB-DD9F-FFD3-A91A4485F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5094C-5E98-A98B-C181-36B29129E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FB2EF-D805-8155-ECC7-96740D97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62272-7C8C-A2AC-E41B-E2921386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2B5D8-66D1-EDE8-1A8F-E3BAEB8F6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3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67E2-ABF5-B539-384F-90AC4EC0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0BAA2-04E4-CB03-5EF9-2C5F7D946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4E92A-0A67-F12D-EA88-234EBAAE7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F9A22-2011-4E62-AA81-C39DFAC83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BC2DC-B468-9477-0D3D-2647376B7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D6B25-1AD7-CC54-F4E2-6BBEC1AC7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D19AB-B0B1-07AE-B3B3-CB46AFD0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1C3B17-7364-2B9B-1E03-22465E3A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0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CC8B-4A2B-BB67-D023-EE673F35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00367B-BA6B-1FFE-7B7E-66624608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83E92-7763-0EA8-5A49-5631D996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3414F-9A80-84C0-2466-D42B5285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1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76DCD-7B9B-DFEC-3D36-B22DE40D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B9EDA-9C51-12E3-C7A6-BC74BB8E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DC13E-4FB5-2695-832A-AA633CC0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6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4B1B-2D88-B0F9-77B2-C0445705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A1F4B-F492-A1A4-D9D0-3A5A4DA22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FBA15-DD14-A9F2-EE37-7FEDFDDE0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704C4-2F57-7A46-8B9D-0B38BFAB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72542-924C-E55C-592C-6003B347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ECD96-D987-444B-767A-E2AEB60B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3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7B21-5272-71B7-8CFB-29A7F808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67144-030C-FD99-135C-F8F1C8906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CE912-04A0-71A2-F35A-892EE34A3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4C529-59E4-745E-D3DD-53300753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7BB35-594B-549E-F9D9-B50F0E59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7310A-FA8C-EAE4-0722-90BDCB0B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0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D2CE-A73F-AB6E-8617-2F4F3ED1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1CD26-8191-7798-04F4-4BD524F5E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0B936-4446-4495-F7C4-208ED0420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E7A97-FB15-EEED-AE61-8C83528A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A0363-32F8-C3EA-123B-3D9CB05D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6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76149-3785-EAEF-CA49-2746A2F03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7948B-E84A-AF53-0B04-2411B3CBE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1A0E-0FD6-A729-7858-025E2984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F9D8D-DA5B-BE35-5898-AB7EF850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8A9-0D91-94B9-963F-DD7BFF27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3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EF1D7-4AE3-1C51-C4AA-D038C672A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0801A-6853-DCD9-4194-F523CD13E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B476-8455-DCA9-6C12-AE631BD8B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CCF28-696A-4B98-BEB2-B54087FF0F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7AD35-486F-A668-3CE8-03A2EFE43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09D2-44DD-E87C-B513-D23297EF5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2D479-AFD8-42D9-9EDF-D11BDF43A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0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eathcote.Daniel@aurora.aer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hub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High-Lift-Prediction-Workshop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High-Lift-Prediction-Workshop/HLPW6-TC1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st.github.com/Chaser324/ce0505fbed06b947d96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E79D-67FB-4604-2CA7-56C8B25FD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HLPW6: How to upload results to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5E5FE-05C5-98BE-4DAC-6D0C03E7E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Daniel Heathcote</a:t>
            </a:r>
          </a:p>
          <a:p>
            <a:r>
              <a:rPr lang="en-US" dirty="0">
                <a:hlinkClick r:id="rId2"/>
              </a:rPr>
              <a:t>Heathcote.Daniel@aurora.aero</a:t>
            </a:r>
            <a:r>
              <a:rPr lang="en-US" dirty="0"/>
              <a:t> </a:t>
            </a:r>
          </a:p>
          <a:p>
            <a:r>
              <a:rPr lang="en-US" dirty="0"/>
              <a:t>Rev A, 1</a:t>
            </a:r>
            <a:r>
              <a:rPr lang="en-US" baseline="30000" dirty="0"/>
              <a:t>st</a:t>
            </a:r>
            <a:r>
              <a:rPr lang="en-US" dirty="0"/>
              <a:t> April 2026</a:t>
            </a:r>
          </a:p>
        </p:txBody>
      </p:sp>
    </p:spTree>
    <p:extLst>
      <p:ext uri="{BB962C8B-B14F-4D97-AF65-F5344CB8AC3E}">
        <p14:creationId xmlns:p14="http://schemas.microsoft.com/office/powerpoint/2010/main" val="39118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DEDB-39C7-0B43-B080-39F8B21D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1BC7-2BBE-9372-F4E5-3AD830C9B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HLPW6, a new method of collecting results is being used: via GitHub</a:t>
            </a:r>
          </a:p>
          <a:p>
            <a:r>
              <a:rPr lang="en-US" dirty="0"/>
              <a:t>This method has been successfully used by DPW</a:t>
            </a:r>
          </a:p>
          <a:p>
            <a:r>
              <a:rPr lang="en-US" dirty="0"/>
              <a:t>This document outlines a method by which submission files can be uploaded</a:t>
            </a:r>
          </a:p>
          <a:p>
            <a:r>
              <a:rPr lang="en-US" dirty="0"/>
              <a:t>It is assumed that the submitter already has a GitHub account</a:t>
            </a:r>
          </a:p>
          <a:p>
            <a:pPr lvl="1"/>
            <a:r>
              <a:rPr lang="en-US" dirty="0"/>
              <a:t>If not, sign up is free via </a:t>
            </a:r>
            <a:r>
              <a:rPr lang="en-US" dirty="0">
                <a:hlinkClick r:id="rId2"/>
              </a:rPr>
              <a:t>www.github.com</a:t>
            </a:r>
            <a:r>
              <a:rPr lang="en-US" dirty="0"/>
              <a:t>  </a:t>
            </a:r>
          </a:p>
          <a:p>
            <a:r>
              <a:rPr lang="en-US" dirty="0"/>
              <a:t>It is also assumed that all operations are completed in-browser, alternate workflows may be available via command line or desktop application</a:t>
            </a:r>
          </a:p>
        </p:txBody>
      </p:sp>
    </p:spTree>
    <p:extLst>
      <p:ext uri="{BB962C8B-B14F-4D97-AF65-F5344CB8AC3E}">
        <p14:creationId xmlns:p14="http://schemas.microsoft.com/office/powerpoint/2010/main" val="194293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4951-5114-39FC-E926-09518493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676C7-32F6-3991-B8D9-2FF00C914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642" y="1566955"/>
            <a:ext cx="3704439" cy="4351338"/>
          </a:xfrm>
        </p:spPr>
        <p:txBody>
          <a:bodyPr>
            <a:normAutofit/>
          </a:bodyPr>
          <a:lstStyle/>
          <a:p>
            <a:r>
              <a:rPr lang="en-US" sz="1800" dirty="0"/>
              <a:t>HLPW6 GitHub:</a:t>
            </a:r>
          </a:p>
          <a:p>
            <a:pPr lvl="1"/>
            <a:r>
              <a:rPr lang="en-US" sz="1600" dirty="0">
                <a:hlinkClick r:id="rId2"/>
              </a:rPr>
              <a:t>High-Lift-Prediction-Workshop</a:t>
            </a:r>
            <a:endParaRPr lang="en-US" sz="1600" dirty="0"/>
          </a:p>
          <a:p>
            <a:r>
              <a:rPr lang="en-US" sz="1800" dirty="0"/>
              <a:t>Welcome page should display participant information &amp; IDs</a:t>
            </a:r>
          </a:p>
          <a:p>
            <a:r>
              <a:rPr lang="en-US" sz="1800" dirty="0"/>
              <a:t>If your name isn’t present and you wish to submit results, please reach out to TFG leads for an 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80899-1140-2080-5C50-0D14F62F3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709" y="1524000"/>
            <a:ext cx="6875191" cy="443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8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5554-05BB-06C5-0002-CE0D9834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C976-609A-2437-D1B4-127CAA271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63829" cy="4351338"/>
          </a:xfrm>
        </p:spPr>
        <p:txBody>
          <a:bodyPr>
            <a:normAutofit/>
          </a:bodyPr>
          <a:lstStyle/>
          <a:p>
            <a:r>
              <a:rPr lang="en-US" sz="1600" dirty="0"/>
              <a:t>The organization currently contains three repositories:</a:t>
            </a:r>
          </a:p>
          <a:p>
            <a:pPr lvl="1"/>
            <a:r>
              <a:rPr lang="en-US" sz="1200" b="1" dirty="0"/>
              <a:t>HLPW6-TC1: </a:t>
            </a:r>
            <a:r>
              <a:rPr lang="en-US" sz="1200" dirty="0"/>
              <a:t>Repo for test case 1 submissions</a:t>
            </a:r>
          </a:p>
          <a:p>
            <a:pPr lvl="1"/>
            <a:r>
              <a:rPr lang="en-US" sz="1200" b="1" dirty="0"/>
              <a:t>.</a:t>
            </a:r>
            <a:r>
              <a:rPr lang="en-US" sz="1200" b="1" dirty="0" err="1"/>
              <a:t>github</a:t>
            </a:r>
            <a:r>
              <a:rPr lang="en-US" sz="1200" b="1" dirty="0"/>
              <a:t>: </a:t>
            </a:r>
            <a:r>
              <a:rPr lang="en-US" sz="1200" dirty="0"/>
              <a:t>do not open/modify, relates to participant table</a:t>
            </a:r>
          </a:p>
          <a:p>
            <a:pPr lvl="1"/>
            <a:r>
              <a:rPr lang="en-US" sz="1200" b="1" dirty="0"/>
              <a:t>HLPW6-plotting: </a:t>
            </a:r>
            <a:r>
              <a:rPr lang="en-US" sz="1200" dirty="0"/>
              <a:t>Associated </a:t>
            </a:r>
            <a:r>
              <a:rPr lang="en-US" sz="1200" dirty="0" err="1"/>
              <a:t>tecplot</a:t>
            </a:r>
            <a:r>
              <a:rPr lang="en-US" sz="1200" dirty="0"/>
              <a:t> macros, layout files and scripts for plotting and comparing results	</a:t>
            </a:r>
          </a:p>
          <a:p>
            <a:r>
              <a:rPr lang="en-US" sz="1600" dirty="0"/>
              <a:t>Navigate to HLPW6-TC1:</a:t>
            </a:r>
          </a:p>
          <a:p>
            <a:pPr lvl="1"/>
            <a:r>
              <a:rPr lang="en-US" sz="1200" dirty="0">
                <a:hlinkClick r:id="rId2"/>
              </a:rPr>
              <a:t>High-Lift-Prediction-Workshop/HLPW6-TC1: Location for Test Case 1 related activities</a:t>
            </a:r>
            <a:endParaRPr lang="en-US" sz="1200" dirty="0"/>
          </a:p>
          <a:p>
            <a:pPr lvl="1"/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E6A89-225B-05E8-3EA4-12511F94A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11" y="1690689"/>
            <a:ext cx="5499817" cy="584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8232E0-4C88-77A2-81F6-8CAF9C7D7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795" y="3210315"/>
            <a:ext cx="3622673" cy="274476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CAF73B-00BC-BAB6-9E61-94CC5D082D2E}"/>
              </a:ext>
            </a:extLst>
          </p:cNvPr>
          <p:cNvCxnSpPr>
            <a:cxnSpLocks/>
          </p:cNvCxnSpPr>
          <p:nvPr/>
        </p:nvCxnSpPr>
        <p:spPr>
          <a:xfrm>
            <a:off x="7160004" y="2275301"/>
            <a:ext cx="264253" cy="925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58C75-D7BD-9A72-1BEF-2AD11BB1A56E}"/>
              </a:ext>
            </a:extLst>
          </p:cNvPr>
          <p:cNvSpPr/>
          <p:nvPr/>
        </p:nvSpPr>
        <p:spPr>
          <a:xfrm>
            <a:off x="6719582" y="2053421"/>
            <a:ext cx="910205" cy="211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8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0386-982D-4444-1EA5-1AABAA35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Repo/ Submission Folder Structure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E802044-09E0-F4E7-BD43-D8FEE5216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758443" cy="4351338"/>
          </a:xfrm>
        </p:spPr>
        <p:txBody>
          <a:bodyPr/>
          <a:lstStyle/>
          <a:p>
            <a:r>
              <a:rPr lang="en-US" b="1" dirty="0"/>
              <a:t>HLPW6 – TC1 Repo</a:t>
            </a:r>
          </a:p>
          <a:p>
            <a:pPr lvl="1"/>
            <a:r>
              <a:rPr lang="en-US" b="1" dirty="0"/>
              <a:t>000-Template-Submission: </a:t>
            </a:r>
            <a:r>
              <a:rPr lang="en-US" dirty="0"/>
              <a:t>Replace 000 with your participant ID</a:t>
            </a:r>
          </a:p>
          <a:p>
            <a:pPr lvl="2"/>
            <a:r>
              <a:rPr lang="en-US" b="1" dirty="0"/>
              <a:t>000_TC1_Y_SS: </a:t>
            </a:r>
            <a:r>
              <a:rPr lang="en-US" dirty="0"/>
              <a:t>Corresponds to a specific submission to a specific TFG. Template files are located here</a:t>
            </a:r>
          </a:p>
          <a:p>
            <a:pPr lvl="3"/>
            <a:r>
              <a:rPr lang="en-US" b="1" dirty="0" err="1"/>
              <a:t>FlowViz</a:t>
            </a:r>
            <a:r>
              <a:rPr lang="en-US" dirty="0"/>
              <a:t>: location for flow visualization images. Utilize standard Tecplot layout file containing requisite views as defined by TFG leads and RANS visualization subcommittee</a:t>
            </a:r>
          </a:p>
          <a:p>
            <a:pPr lvl="1"/>
            <a:r>
              <a:rPr lang="en-US" b="1" dirty="0"/>
              <a:t>E00-Experimental Data: placeholder for experimental data</a:t>
            </a:r>
          </a:p>
        </p:txBody>
      </p:sp>
    </p:spTree>
    <p:extLst>
      <p:ext uri="{BB962C8B-B14F-4D97-AF65-F5344CB8AC3E}">
        <p14:creationId xmlns:p14="http://schemas.microsoft.com/office/powerpoint/2010/main" val="414508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729B5B-5D50-5DDC-AF1F-4979325E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287" y="1555607"/>
            <a:ext cx="6867123" cy="4663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28C48-AAA6-7F7C-A9AD-075B6E3F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HLPW6-TC1 fork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5F73E-D4B7-2930-20DD-1F2E25A71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440185" cy="4351338"/>
          </a:xfrm>
        </p:spPr>
        <p:txBody>
          <a:bodyPr>
            <a:normAutofit/>
          </a:bodyPr>
          <a:lstStyle/>
          <a:p>
            <a:r>
              <a:rPr lang="en-US" sz="1400" dirty="0"/>
              <a:t>Creating a </a:t>
            </a:r>
            <a:r>
              <a:rPr lang="en-US" sz="1400" b="1" dirty="0"/>
              <a:t>fork</a:t>
            </a:r>
            <a:r>
              <a:rPr lang="en-US" sz="1400" dirty="0"/>
              <a:t> of the repo keeps any changes you make to the repo isolated until they are </a:t>
            </a:r>
            <a:r>
              <a:rPr lang="en-US" sz="1400" b="1" i="1" dirty="0"/>
              <a:t>“pushed” </a:t>
            </a:r>
            <a:r>
              <a:rPr lang="en-US" sz="1400" dirty="0"/>
              <a:t>to the main branch. </a:t>
            </a:r>
          </a:p>
          <a:p>
            <a:r>
              <a:rPr lang="en-US" sz="1400" dirty="0"/>
              <a:t>This is done via </a:t>
            </a:r>
            <a:r>
              <a:rPr lang="en-US" sz="1400" b="1" dirty="0"/>
              <a:t>forking (red highlight)</a:t>
            </a:r>
          </a:p>
          <a:p>
            <a:r>
              <a:rPr lang="en-US" sz="1400" dirty="0"/>
              <a:t>You will use this branch to upload and submit your data</a:t>
            </a:r>
            <a:endParaRPr lang="en-US" sz="1400" b="1" dirty="0"/>
          </a:p>
          <a:p>
            <a:r>
              <a:rPr lang="en-US" sz="1400" dirty="0"/>
              <a:t>Please read the contents of the </a:t>
            </a:r>
            <a:r>
              <a:rPr lang="en-US" sz="1400" dirty="0">
                <a:solidFill>
                  <a:schemeClr val="accent3"/>
                </a:solidFill>
              </a:rPr>
              <a:t>README.md </a:t>
            </a:r>
            <a:r>
              <a:rPr lang="en-US" sz="1400" dirty="0"/>
              <a:t>file carefully, as these provide the guidelines for naming submission folders</a:t>
            </a:r>
          </a:p>
          <a:p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F2373-D8C6-F32C-04C5-7E0DFD360246}"/>
              </a:ext>
            </a:extLst>
          </p:cNvPr>
          <p:cNvSpPr/>
          <p:nvPr/>
        </p:nvSpPr>
        <p:spPr>
          <a:xfrm>
            <a:off x="10251387" y="1634540"/>
            <a:ext cx="448811" cy="190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BC55C-F043-FA1D-3278-38EE4F791CD2}"/>
              </a:ext>
            </a:extLst>
          </p:cNvPr>
          <p:cNvSpPr/>
          <p:nvPr/>
        </p:nvSpPr>
        <p:spPr>
          <a:xfrm>
            <a:off x="5059111" y="3854152"/>
            <a:ext cx="4866830" cy="23647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8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DA83-43B8-BED5-A1E3-7549E031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HLPW6-TC1 fork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273FB-07B0-07E0-3A96-925F62788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Creating a fork places a copy of the </a:t>
            </a:r>
            <a:r>
              <a:rPr lang="en-US" sz="1600" b="1" dirty="0"/>
              <a:t>“main” </a:t>
            </a:r>
            <a:r>
              <a:rPr lang="en-US" sz="1600" dirty="0"/>
              <a:t>branch in your GitHub</a:t>
            </a:r>
          </a:p>
          <a:p>
            <a:r>
              <a:rPr lang="en-US" sz="1600" dirty="0"/>
              <a:t>Please create your own </a:t>
            </a:r>
            <a:r>
              <a:rPr lang="en-US" sz="1600" b="1" dirty="0"/>
              <a:t>fork</a:t>
            </a:r>
            <a:r>
              <a:rPr lang="en-US" sz="1600" dirty="0"/>
              <a:t> by clicking the highlighted button.</a:t>
            </a:r>
          </a:p>
          <a:p>
            <a:r>
              <a:rPr lang="en-US" sz="1600" dirty="0"/>
              <a:t>The fork’s name can be anything you fancy, although keeping it the same as the master is recommended</a:t>
            </a:r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18702-29AB-CDDA-1220-5CFFB47345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8F0B3-9E1D-9083-C601-7A2EE8F50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797" y="1892825"/>
            <a:ext cx="5427706" cy="41262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8550BA-BEB5-2871-8ECB-DC5125451E2A}"/>
              </a:ext>
            </a:extLst>
          </p:cNvPr>
          <p:cNvSpPr/>
          <p:nvPr/>
        </p:nvSpPr>
        <p:spPr>
          <a:xfrm>
            <a:off x="10775659" y="5689996"/>
            <a:ext cx="730541" cy="253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8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9293B-5F19-F9CD-5682-6E682767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167" y="2205991"/>
            <a:ext cx="7054553" cy="24460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7D7C24-EE7F-41BF-4D1B-9AF6CA14F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your HLPW6-TC1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5DE0-6AFC-9C94-13B6-FCB01CF9B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767983" cy="4351338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800" dirty="0"/>
              <a:t>After creating the fork, you’ll be brought to a landing page for your new fork of the repository.</a:t>
            </a:r>
          </a:p>
          <a:p>
            <a:pPr marL="285750" indent="-285750"/>
            <a:r>
              <a:rPr lang="en-US" sz="1800" dirty="0"/>
              <a:t>Some key features here are:</a:t>
            </a:r>
          </a:p>
          <a:p>
            <a:pPr marL="742950" lvl="1" indent="-285750"/>
            <a:r>
              <a:rPr lang="en-US" sz="1600" b="1" i="1" dirty="0">
                <a:solidFill>
                  <a:srgbClr val="FF0000"/>
                </a:solidFill>
              </a:rPr>
              <a:t>Contribute</a:t>
            </a:r>
            <a:r>
              <a:rPr lang="en-US" sz="1600" dirty="0"/>
              <a:t> – This is how you will push </a:t>
            </a:r>
            <a:r>
              <a:rPr lang="en-US" sz="1600" b="1" dirty="0"/>
              <a:t>(submit)</a:t>
            </a:r>
            <a:r>
              <a:rPr lang="en-US" sz="1600" dirty="0"/>
              <a:t> your data up to the main repository</a:t>
            </a:r>
          </a:p>
          <a:p>
            <a:pPr marL="742950" lvl="1" indent="-285750"/>
            <a:r>
              <a:rPr lang="en-US" sz="1600" b="1" i="1" dirty="0">
                <a:solidFill>
                  <a:schemeClr val="accent3"/>
                </a:solidFill>
              </a:rPr>
              <a:t>Sync fork </a:t>
            </a:r>
            <a:r>
              <a:rPr lang="en-US" sz="1600" dirty="0"/>
              <a:t>– Clicking this will bring updates from the main repository into your local fork</a:t>
            </a:r>
          </a:p>
          <a:p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0E4800-667F-AF81-2D7A-61DE55153B48}"/>
              </a:ext>
            </a:extLst>
          </p:cNvPr>
          <p:cNvSpPr/>
          <p:nvPr/>
        </p:nvSpPr>
        <p:spPr>
          <a:xfrm>
            <a:off x="8549950" y="3014457"/>
            <a:ext cx="854697" cy="246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8A6EA8-6ED9-D257-A7CB-D0EF0F9618F3}"/>
              </a:ext>
            </a:extLst>
          </p:cNvPr>
          <p:cNvSpPr/>
          <p:nvPr/>
        </p:nvSpPr>
        <p:spPr>
          <a:xfrm>
            <a:off x="9434988" y="3010184"/>
            <a:ext cx="776680" cy="24605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450F-931E-1D37-82C1-60D8DF66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your HLPW6-TC1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EDBA-28C3-F15B-E74C-BB7F27207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440185" cy="4351338"/>
          </a:xfrm>
        </p:spPr>
        <p:txBody>
          <a:bodyPr>
            <a:normAutofit/>
          </a:bodyPr>
          <a:lstStyle/>
          <a:p>
            <a:r>
              <a:rPr lang="en-US" sz="1800" dirty="0"/>
              <a:t>Ensure you are working within your fork:</a:t>
            </a:r>
          </a:p>
          <a:p>
            <a:pPr lvl="1"/>
            <a:r>
              <a:rPr lang="en-US" sz="1400" dirty="0"/>
              <a:t>Navigate to your profile by clicking on your profile image -&gt; profile</a:t>
            </a:r>
          </a:p>
          <a:p>
            <a:pPr lvl="1"/>
            <a:r>
              <a:rPr lang="en-US" sz="1400" dirty="0"/>
              <a:t>Select you fork of </a:t>
            </a:r>
            <a:r>
              <a:rPr lang="en-US" sz="1400" b="1" dirty="0"/>
              <a:t>HLPW6-TC1</a:t>
            </a:r>
          </a:p>
          <a:p>
            <a:r>
              <a:rPr lang="en-US" sz="1800" dirty="0"/>
              <a:t>The view should match the right hand image (note </a:t>
            </a:r>
            <a:r>
              <a:rPr lang="en-US" sz="1800" b="1" dirty="0"/>
              <a:t>“forked from” </a:t>
            </a:r>
            <a:r>
              <a:rPr lang="en-US" sz="1800" dirty="0"/>
              <a:t>text)</a:t>
            </a:r>
          </a:p>
          <a:p>
            <a:r>
              <a:rPr lang="en-US" sz="1800" dirty="0"/>
              <a:t>000-Template-Submission contains the files which need to be modified for submission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BFAAFC-05ED-DB26-226E-AB08921E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10" r="46674" b="11102"/>
          <a:stretch>
            <a:fillRect/>
          </a:stretch>
        </p:blipFill>
        <p:spPr>
          <a:xfrm>
            <a:off x="6662606" y="2348574"/>
            <a:ext cx="5493042" cy="2579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93EEBC-A4D0-B32C-7F99-91DB52D7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014" t="11102" r="1020" b="6389"/>
          <a:stretch>
            <a:fillRect/>
          </a:stretch>
        </p:blipFill>
        <p:spPr>
          <a:xfrm>
            <a:off x="4617092" y="1825625"/>
            <a:ext cx="1824605" cy="41861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45CBD6-B706-6276-5B1B-E9CF01725B12}"/>
              </a:ext>
            </a:extLst>
          </p:cNvPr>
          <p:cNvSpPr/>
          <p:nvPr/>
        </p:nvSpPr>
        <p:spPr>
          <a:xfrm>
            <a:off x="4699315" y="2577088"/>
            <a:ext cx="885038" cy="246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54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230D-BAD7-A1D7-B497-82B143DE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submission folder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DF8D-5CA6-0D0E-9835-3CB25DE09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30839"/>
            <a:ext cx="3861619" cy="4351338"/>
          </a:xfrm>
        </p:spPr>
        <p:txBody>
          <a:bodyPr>
            <a:normAutofit/>
          </a:bodyPr>
          <a:lstStyle/>
          <a:p>
            <a:r>
              <a:rPr lang="en-US" sz="1800" dirty="0" err="1"/>
              <a:t>Github</a:t>
            </a:r>
            <a:r>
              <a:rPr lang="en-US" sz="1800" dirty="0"/>
              <a:t> does not natively allow browser based “copy” operations. The following provides a methodology to get around this. Alternate workflows via command line operations may be available</a:t>
            </a:r>
          </a:p>
          <a:p>
            <a:r>
              <a:rPr lang="en-US" sz="1800" dirty="0"/>
              <a:t>Essentially, we need to copy the files from the template directory, modify them with our results, and add them to a folder corresponding to our participant ID, TFG and submission number</a:t>
            </a:r>
          </a:p>
          <a:p>
            <a:r>
              <a:rPr lang="en-US" sz="1800" dirty="0"/>
              <a:t>Create a new folder by clicking </a:t>
            </a:r>
            <a:r>
              <a:rPr lang="en-US" sz="1800" b="1" i="1" dirty="0"/>
              <a:t>“add file”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BCFC7-02D5-49E0-BEBD-0C5E82C7A3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565"/>
          <a:stretch>
            <a:fillRect/>
          </a:stretch>
        </p:blipFill>
        <p:spPr>
          <a:xfrm>
            <a:off x="5758332" y="1530014"/>
            <a:ext cx="6015295" cy="25190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0DBA86-1B34-C6AF-277E-E4EE12ADA620}"/>
              </a:ext>
            </a:extLst>
          </p:cNvPr>
          <p:cNvSpPr/>
          <p:nvPr/>
        </p:nvSpPr>
        <p:spPr>
          <a:xfrm>
            <a:off x="10271662" y="2212390"/>
            <a:ext cx="448811" cy="190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19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1905-6F02-0C7E-842A-BE3FE86C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submission folder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2FF78-5B42-4C63-8303-CA41C1D261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Folder naming convention should follow </a:t>
            </a:r>
            <a:r>
              <a:rPr lang="en-US" sz="1800" b="1" dirty="0"/>
              <a:t>HLPW6-TC1/readme.md</a:t>
            </a:r>
          </a:p>
          <a:p>
            <a:r>
              <a:rPr lang="en-US" sz="1800" dirty="0"/>
              <a:t>Input name in flied after HLPW6-TC1 following convention adding </a:t>
            </a:r>
            <a:r>
              <a:rPr lang="en-US" sz="1800" b="1" dirty="0"/>
              <a:t>“/.</a:t>
            </a:r>
            <a:r>
              <a:rPr lang="en-US" sz="1800" b="1" dirty="0" err="1"/>
              <a:t>gitkeep</a:t>
            </a:r>
            <a:r>
              <a:rPr lang="en-US" sz="1800" b="1" dirty="0"/>
              <a:t>” </a:t>
            </a:r>
            <a:r>
              <a:rPr lang="en-US" sz="1800" dirty="0"/>
              <a:t>to the end</a:t>
            </a:r>
          </a:p>
          <a:p>
            <a:r>
              <a:rPr lang="en-US" sz="1800" dirty="0"/>
              <a:t>As git tracks files and not folders, an empty file is required until the results files are uploaded</a:t>
            </a:r>
          </a:p>
          <a:p>
            <a:r>
              <a:rPr lang="en-US" sz="1800" dirty="0"/>
              <a:t>Click </a:t>
            </a:r>
            <a:r>
              <a:rPr lang="en-US" sz="1800" b="1" i="1" dirty="0"/>
              <a:t>“Commit”</a:t>
            </a:r>
            <a:r>
              <a:rPr lang="en-US" sz="1800" dirty="0"/>
              <a:t> button on far right </a:t>
            </a:r>
          </a:p>
          <a:p>
            <a:r>
              <a:rPr lang="en-US" sz="1800" dirty="0"/>
              <a:t>In pop up window, please provide a descriptive message for the commit</a:t>
            </a:r>
          </a:p>
          <a:p>
            <a:r>
              <a:rPr lang="en-US" sz="1800" dirty="0"/>
              <a:t>Committing to main </a:t>
            </a:r>
            <a:r>
              <a:rPr lang="en-US" sz="1800" b="1" dirty="0"/>
              <a:t>branch</a:t>
            </a:r>
            <a:r>
              <a:rPr lang="en-US" sz="1800" dirty="0"/>
              <a:t> on your </a:t>
            </a:r>
            <a:r>
              <a:rPr lang="en-US" sz="1800" b="1" dirty="0"/>
              <a:t>fork</a:t>
            </a:r>
            <a:r>
              <a:rPr lang="en-US" sz="1800" dirty="0"/>
              <a:t> is appropriate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A47BB-653D-46D8-721F-0B54D5BF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038" y="1538156"/>
            <a:ext cx="3691571" cy="10711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2F2BF6-C038-8AC4-E8A4-AF7C06F52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069" y="2837035"/>
            <a:ext cx="1863507" cy="7183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DE3DCB-FEE2-A9DC-21B2-8C1F1D66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759" y="3879570"/>
            <a:ext cx="2432125" cy="24931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91F5-A7D3-3BFA-76C5-630FD76AC348}"/>
              </a:ext>
            </a:extLst>
          </p:cNvPr>
          <p:cNvSpPr txBox="1"/>
          <p:nvPr/>
        </p:nvSpPr>
        <p:spPr>
          <a:xfrm>
            <a:off x="6669248" y="1889066"/>
            <a:ext cx="892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9D633-8B25-99EB-3B67-340D311E106D}"/>
              </a:ext>
            </a:extLst>
          </p:cNvPr>
          <p:cNvSpPr txBox="1"/>
          <p:nvPr/>
        </p:nvSpPr>
        <p:spPr>
          <a:xfrm>
            <a:off x="6600351" y="3011536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C78145-D7F0-4FC2-4D5A-D77DAB3826C8}"/>
              </a:ext>
            </a:extLst>
          </p:cNvPr>
          <p:cNvSpPr txBox="1"/>
          <p:nvPr/>
        </p:nvSpPr>
        <p:spPr>
          <a:xfrm>
            <a:off x="6669248" y="4941477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Confirm</a:t>
            </a:r>
          </a:p>
        </p:txBody>
      </p:sp>
    </p:spTree>
    <p:extLst>
      <p:ext uri="{BB962C8B-B14F-4D97-AF65-F5344CB8AC3E}">
        <p14:creationId xmlns:p14="http://schemas.microsoft.com/office/powerpoint/2010/main" val="2794449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84B528-86CB-5BDB-4B63-AC64966B1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232" y="3916110"/>
            <a:ext cx="4994532" cy="2422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5F3A91-79E5-EA16-9C01-26E9EDC3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submission files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088F65-2405-401F-1A0F-14CAEEE299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865232" y="1279411"/>
            <a:ext cx="3953967" cy="25679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55FDD-FD8E-12B4-352C-E45700994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916" y="1446299"/>
            <a:ext cx="5181600" cy="4941681"/>
          </a:xfrm>
        </p:spPr>
        <p:txBody>
          <a:bodyPr>
            <a:normAutofit/>
          </a:bodyPr>
          <a:lstStyle/>
          <a:p>
            <a:r>
              <a:rPr lang="en-US" sz="1800" dirty="0"/>
              <a:t>Five files are provided in the template submission folder:</a:t>
            </a:r>
          </a:p>
          <a:p>
            <a:pPr lvl="1">
              <a:buFont typeface="+mj-lt"/>
              <a:buAutoNum type="arabicPeriod"/>
            </a:pPr>
            <a:r>
              <a:rPr lang="en-US" sz="1400" b="1" dirty="0"/>
              <a:t>Readme.md </a:t>
            </a:r>
            <a:r>
              <a:rPr lang="en-US" sz="1400" dirty="0"/>
              <a:t>= contains supplemental information for the submission</a:t>
            </a:r>
          </a:p>
          <a:p>
            <a:pPr lvl="1">
              <a:buFont typeface="+mj-lt"/>
              <a:buAutoNum type="arabicPeriod"/>
            </a:pPr>
            <a:r>
              <a:rPr lang="en-US" sz="1400" b="1" dirty="0"/>
              <a:t>FM.dat </a:t>
            </a:r>
            <a:r>
              <a:rPr lang="en-US" sz="1400" dirty="0"/>
              <a:t>= Converged or time-averaged Force and Moment data vs. angle of attack, multiple grid levels may be included</a:t>
            </a:r>
          </a:p>
          <a:p>
            <a:pPr lvl="1">
              <a:buFont typeface="+mj-lt"/>
              <a:buAutoNum type="arabicPeriod"/>
            </a:pPr>
            <a:r>
              <a:rPr lang="en-US" sz="1400" b="1" dirty="0"/>
              <a:t>gridconvergence_FM.dat </a:t>
            </a:r>
            <a:r>
              <a:rPr lang="en-US" sz="1400" dirty="0"/>
              <a:t>= Converged or time-averaged Force and Moment data vs. grid level, multiple angles of attack may be included (this is a transpose of #2)</a:t>
            </a:r>
          </a:p>
          <a:p>
            <a:pPr lvl="1">
              <a:buFont typeface="+mj-lt"/>
              <a:buAutoNum type="arabicPeriod"/>
            </a:pPr>
            <a:r>
              <a:rPr lang="en-US" sz="1400" b="1" dirty="0"/>
              <a:t>nominalgrid_cpcf.dat </a:t>
            </a:r>
            <a:r>
              <a:rPr lang="en-US" sz="1400" dirty="0"/>
              <a:t>= Surface pressure and skin friction distributions at locations corresponding to experimental pressure belts. These are defined here:</a:t>
            </a:r>
          </a:p>
          <a:p>
            <a:pPr lvl="1">
              <a:buFont typeface="+mj-lt"/>
              <a:buAutoNum type="arabicPeriod"/>
            </a:pPr>
            <a:r>
              <a:rPr lang="en-US" sz="1400" b="1" dirty="0"/>
              <a:t>nominalgrid_iterative.dat </a:t>
            </a:r>
            <a:r>
              <a:rPr lang="en-US" sz="1400" dirty="0"/>
              <a:t>= Solver iterative convergence with respect to iteration, or if time-dependent, with respect to convective time</a:t>
            </a:r>
          </a:p>
          <a:p>
            <a:r>
              <a:rPr lang="en-US" sz="1800" dirty="0"/>
              <a:t>It’s recommended to modify these by downloading a copy of the repo via a zip file (left)</a:t>
            </a:r>
          </a:p>
          <a:p>
            <a:r>
              <a:rPr lang="en-US" sz="1800" dirty="0"/>
              <a:t>Alternatively, a local clone of the repo can be conducted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F78627-8980-11FD-574E-E42723190F8D}"/>
              </a:ext>
            </a:extLst>
          </p:cNvPr>
          <p:cNvSpPr/>
          <p:nvPr/>
        </p:nvSpPr>
        <p:spPr>
          <a:xfrm>
            <a:off x="11548552" y="4442549"/>
            <a:ext cx="164532" cy="190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5A0BD9-4351-E7E8-CC49-5DEF88E1848B}"/>
              </a:ext>
            </a:extLst>
          </p:cNvPr>
          <p:cNvSpPr/>
          <p:nvPr/>
        </p:nvSpPr>
        <p:spPr>
          <a:xfrm>
            <a:off x="9628597" y="5994388"/>
            <a:ext cx="703268" cy="190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31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BE20-EF8C-2A7F-C78C-922588E1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Submission files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B1CC-CB6A-65AA-B13B-E44B4669B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18647" cy="4351338"/>
          </a:xfrm>
        </p:spPr>
        <p:txBody>
          <a:bodyPr>
            <a:normAutofit/>
          </a:bodyPr>
          <a:lstStyle/>
          <a:p>
            <a:r>
              <a:rPr lang="en-US" sz="1800" dirty="0"/>
              <a:t>Navigate back to your submission folder</a:t>
            </a:r>
          </a:p>
          <a:p>
            <a:r>
              <a:rPr lang="en-US" sz="1800" dirty="0"/>
              <a:t>Click </a:t>
            </a:r>
            <a:r>
              <a:rPr lang="en-US" sz="1800" b="1" i="1" dirty="0"/>
              <a:t>“Add file”,</a:t>
            </a:r>
            <a:r>
              <a:rPr lang="en-US" sz="1800" dirty="0"/>
              <a:t> then </a:t>
            </a:r>
            <a:r>
              <a:rPr lang="en-US" sz="1800" b="1" i="1" dirty="0"/>
              <a:t>“Upload files”</a:t>
            </a:r>
          </a:p>
          <a:p>
            <a:r>
              <a:rPr lang="en-US" sz="1800" dirty="0"/>
              <a:t>Either drag &amp; drop or navigate to submission file location</a:t>
            </a:r>
          </a:p>
          <a:p>
            <a:r>
              <a:rPr lang="en-US" sz="1800" dirty="0"/>
              <a:t>Provide description to commit, and commit your changes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8FAD9-5EAE-C132-6A08-1AC5DAFED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83" y="1408764"/>
            <a:ext cx="4877006" cy="21269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8AA735-AE7F-7287-7E83-5EC99A9D298A}"/>
              </a:ext>
            </a:extLst>
          </p:cNvPr>
          <p:cNvSpPr/>
          <p:nvPr/>
        </p:nvSpPr>
        <p:spPr>
          <a:xfrm>
            <a:off x="8026003" y="1947931"/>
            <a:ext cx="745962" cy="190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38D629-434E-EF61-3DEB-D8C543F4F850}"/>
              </a:ext>
            </a:extLst>
          </p:cNvPr>
          <p:cNvSpPr/>
          <p:nvPr/>
        </p:nvSpPr>
        <p:spPr>
          <a:xfrm>
            <a:off x="8613193" y="1471667"/>
            <a:ext cx="427714" cy="190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A97728-A0EF-1F56-67A1-6401FBC2F4ED}"/>
              </a:ext>
            </a:extLst>
          </p:cNvPr>
          <p:cNvCxnSpPr>
            <a:cxnSpLocks/>
          </p:cNvCxnSpPr>
          <p:nvPr/>
        </p:nvCxnSpPr>
        <p:spPr>
          <a:xfrm>
            <a:off x="8481066" y="2138924"/>
            <a:ext cx="264253" cy="925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C429CAC-22C3-8E7B-26D7-BE5152450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155" y="3064023"/>
            <a:ext cx="3813914" cy="320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11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63D8-2F28-E0E4-5A20-1A0F791E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Submission files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A428-F85E-CBD4-75D0-B1A785BD7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41521" cy="4351338"/>
          </a:xfrm>
        </p:spPr>
        <p:txBody>
          <a:bodyPr>
            <a:normAutofit/>
          </a:bodyPr>
          <a:lstStyle/>
          <a:p>
            <a:r>
              <a:rPr lang="en-US" sz="1800" dirty="0"/>
              <a:t>Your files are now uploaded to your fork of the repository.</a:t>
            </a:r>
          </a:p>
          <a:p>
            <a:r>
              <a:rPr lang="en-US" sz="1800" dirty="0"/>
              <a:t>You can add more submissions by repeating the process of creating a submission folder and adding additional files.</a:t>
            </a:r>
          </a:p>
          <a:p>
            <a:r>
              <a:rPr lang="en-US" sz="1800" dirty="0"/>
              <a:t>Once all of the files are uploaded to your fork, navigate to the front page of your repo, and click </a:t>
            </a:r>
            <a:r>
              <a:rPr lang="en-US" sz="1800" b="1" i="1" dirty="0"/>
              <a:t>“Contribute” </a:t>
            </a:r>
            <a:r>
              <a:rPr lang="en-US" sz="1800" dirty="0"/>
              <a:t>and </a:t>
            </a:r>
            <a:r>
              <a:rPr lang="en-US" sz="1800" b="1" i="1" dirty="0"/>
              <a:t>“Open pull request”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F3F56-8B97-69BD-D9A5-54E810C73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364" y="2022849"/>
            <a:ext cx="6808549" cy="397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3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9D52-6C53-F43B-F58A-A3A50994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Submission files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193F-5C2B-02FE-DD8B-764729FB3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536" y="1825625"/>
            <a:ext cx="3749879" cy="4351338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800" dirty="0"/>
              <a:t>From here, you’ll have to add a title for your pull request, fill in some description, as necessary, and then click “</a:t>
            </a:r>
            <a:r>
              <a:rPr lang="en-US" sz="1800" b="1" i="1" dirty="0"/>
              <a:t>Create pull request”</a:t>
            </a:r>
          </a:p>
          <a:p>
            <a:pPr marL="285750" indent="-285750"/>
            <a:r>
              <a:rPr lang="en-US" sz="1800" dirty="0"/>
              <a:t>This will inform the group leads that your data files are awaiting review</a:t>
            </a:r>
          </a:p>
          <a:p>
            <a:pPr marL="285750" indent="-285750"/>
            <a:r>
              <a:rPr lang="en-US" sz="1800" dirty="0"/>
              <a:t>Thank you for your contribution to HLPW6!</a:t>
            </a:r>
          </a:p>
          <a:p>
            <a:pPr marL="285750" indent="-285750"/>
            <a:r>
              <a:rPr lang="en-US" sz="1800" dirty="0"/>
              <a:t>The same fork can be used to create subsequent submittals by creating a new folder and completing the same</a:t>
            </a:r>
            <a:r>
              <a:rPr lang="en-US" sz="1800" b="1" i="1" dirty="0"/>
              <a:t> “pull request/ push process”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2EDD1-F6D2-AE0B-510F-15B33F8D6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26" y="1736394"/>
            <a:ext cx="7228096" cy="40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5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C1D8-1B96-62C2-7D01-A29CF501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 (from DPW)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CE42-8232-B839-850E-C1460FD98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482743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This method only relied on the web interface for GitHub. If you’re familiar with their command line interface or GitHub application, you absolutely can use those as well.</a:t>
            </a:r>
          </a:p>
          <a:p>
            <a:r>
              <a:rPr lang="en-US" sz="1800" dirty="0"/>
              <a:t>Undoubtedly people will run into issues along the way, so please feel free to reach out to the group leads with any questions.</a:t>
            </a:r>
          </a:p>
          <a:p>
            <a:r>
              <a:rPr lang="en-US" sz="1800" dirty="0"/>
              <a:t>Also, there is a wealth of information on the Fork and Pull method of contributing to a repository. Here’s one tutorial that is slightly more advanced and uses the command line interface:</a:t>
            </a:r>
            <a:br>
              <a:rPr lang="en-US" sz="1800" dirty="0"/>
            </a:br>
            <a:r>
              <a:rPr lang="en-US" sz="1800" dirty="0">
                <a:hlinkClick r:id="rId2"/>
              </a:rPr>
              <a:t>https://gist.github.com/Chaser324/ce0505fbed06b947d962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8829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1146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HLPW6: How to upload results to GitHub</vt:lpstr>
      <vt:lpstr>Overview</vt:lpstr>
      <vt:lpstr>Accessing the organization</vt:lpstr>
      <vt:lpstr>Repository Structure</vt:lpstr>
      <vt:lpstr>Repo/ Submission Folder Structure</vt:lpstr>
      <vt:lpstr>Creating your HLPW6-TC1 fork (1/2)</vt:lpstr>
      <vt:lpstr>Creating your HLPW6-TC1 fork (2/2)</vt:lpstr>
      <vt:lpstr>Using your HLPW6-TC1 fork</vt:lpstr>
      <vt:lpstr>Using your HLPW6-TC1 fork</vt:lpstr>
      <vt:lpstr>Creating a submission folder (1)</vt:lpstr>
      <vt:lpstr>Creating a submission folder (2)</vt:lpstr>
      <vt:lpstr>Creating submission files</vt:lpstr>
      <vt:lpstr>Uploading Submission files (1/3)</vt:lpstr>
      <vt:lpstr>Uploading Submission files (2/3)</vt:lpstr>
      <vt:lpstr>Uploading Submission files (3/3)</vt:lpstr>
      <vt:lpstr>Final thoughts (from DPW)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Heathcote (US), Daniel</dc:creator>
  <cp:lastModifiedBy>Heathcote (US), Daniel</cp:lastModifiedBy>
  <cp:revision>2</cp:revision>
  <dcterms:created xsi:type="dcterms:W3CDTF">2026-03-09T15:25:59Z</dcterms:created>
  <dcterms:modified xsi:type="dcterms:W3CDTF">2026-04-01T15:12:57Z</dcterms:modified>
</cp:coreProperties>
</file>